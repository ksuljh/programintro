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24384000" cy="13716000"/>
  <p:notesSz cx="6858000" cy="9144000"/>
  <p:embeddedFontLst>
    <p:embeddedFont>
      <p:font typeface="210 Ginsaengmeori Regular"/>
      <p:regular r:id="rId20"/>
    </p:embeddedFont>
    <p:embeddedFont>
      <p:font typeface="Pretendard Black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1.fntdata" Type="http://schemas.openxmlformats.org/officeDocument/2006/relationships/font"/><Relationship Id="rId21" Target="fonts/font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9595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63700" y="5003800"/>
            <a:ext cx="22377400" cy="185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0409" b="false" i="false" u="none" strike="noStrike">
                <a:solidFill>
                  <a:srgbClr val="EEEEEE"/>
                </a:solidFill>
                <a:latin typeface="210 Ginsaengmeori Regular"/>
                <a:ea typeface="210 Ginsaengmeori Regular"/>
                <a:cs typeface="210 Ginsaengmeori Regular"/>
              </a:rPr>
              <a:t>GitHub 와 자동차 관리 클래스 프로젝트 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153400" y="7493000"/>
            <a:ext cx="8356600" cy="1257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000000"/>
                </a:solidFill>
                <a:latin typeface="210 Ginsaengmeori Regular"/>
                <a:ea typeface="210 Ginsaengmeori Regular"/>
                <a:cs typeface="210 Ginsaengmeori Regular"/>
              </a:rPr>
              <a:t>2026964038 이지환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889500" y="9982200"/>
            <a:ext cx="1625600" cy="1625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6908800" y="10426700"/>
            <a:ext cx="107188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210 Ginsaengmeori Regular"/>
                <a:ea typeface="210 Ginsaengmeori Regular"/>
                <a:cs typeface="210 Ginsaengmeori Regular"/>
              </a:rPr>
              <a:t>https://github.com/ksuljh/ProgramIntro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9595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384300" y="723900"/>
            <a:ext cx="1955800" cy="3263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155700" y="1435100"/>
            <a:ext cx="4406900" cy="185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0409" b="false" i="false" u="none" strike="noStrike">
                <a:solidFill>
                  <a:srgbClr val="EEEEEE"/>
                </a:solidFill>
                <a:latin typeface="Pretendard Black"/>
                <a:ea typeface="Pretendard Black"/>
                <a:cs typeface="Pretendard Black"/>
              </a:rPr>
              <a:t>INDEX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25800" y="4597400"/>
            <a:ext cx="7683500" cy="1117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6258" b="false" i="false" u="none" strike="noStrike">
                <a:solidFill>
                  <a:srgbClr val="EEEEEE"/>
                </a:solidFill>
                <a:latin typeface="210 Ginsaengmeori Regular"/>
                <a:ea typeface="210 Ginsaengmeori Regular"/>
                <a:cs typeface="210 Ginsaengmeori Regular"/>
              </a:rPr>
              <a:t>GitHub - Week 1 ~ 8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998200" y="4673600"/>
            <a:ext cx="965200" cy="9652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828800" y="4445000"/>
            <a:ext cx="1384300" cy="142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8007" b="true" i="false" u="none" strike="noStrike">
                <a:solidFill>
                  <a:srgbClr val="231815"/>
                </a:solidFill>
                <a:latin typeface="210 Ginsaengmeori Regular"/>
                <a:ea typeface="210 Ginsaengmeori Regular"/>
                <a:cs typeface="210 Ginsaengmeori Regular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8800" y="6527800"/>
            <a:ext cx="1511300" cy="142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8007" b="true" i="false" u="none" strike="noStrike">
                <a:solidFill>
                  <a:srgbClr val="231815"/>
                </a:solidFill>
                <a:latin typeface="210 Ginsaengmeori Regular"/>
                <a:ea typeface="210 Ginsaengmeori Regular"/>
                <a:cs typeface="210 Ginsaengmeori Regular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225800" y="6692900"/>
            <a:ext cx="9486900" cy="1117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6258" b="false" i="false" u="none" strike="noStrike">
                <a:solidFill>
                  <a:srgbClr val="EEEEEE"/>
                </a:solidFill>
                <a:latin typeface="210 Ginsaengmeori Regular"/>
                <a:ea typeface="210 Ginsaengmeori Regular"/>
                <a:cs typeface="210 Ginsaengmeori Regular"/>
              </a:rPr>
              <a:t>자동차 관리 클래스 프로젝트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674600" y="6896100"/>
            <a:ext cx="965200" cy="6985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828800" y="8610600"/>
            <a:ext cx="1536700" cy="142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8007" b="true" i="false" u="none" strike="noStrike">
                <a:solidFill>
                  <a:srgbClr val="231815"/>
                </a:solidFill>
                <a:latin typeface="210 Ginsaengmeori Regular"/>
                <a:ea typeface="210 Ginsaengmeori Regular"/>
                <a:cs typeface="210 Ginsaengmeori Regular"/>
              </a:rPr>
              <a:t>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25800" y="8775700"/>
            <a:ext cx="8140700" cy="1117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6258" b="false" i="false" u="none" strike="noStrike">
                <a:solidFill>
                  <a:srgbClr val="EEEEEE"/>
                </a:solidFill>
                <a:latin typeface="210 Ginsaengmeori Regular"/>
                <a:ea typeface="210 Ginsaengmeori Regular"/>
                <a:cs typeface="210 Ginsaengmeori Regular"/>
              </a:rPr>
              <a:t>느낀점 &amp; 나의 예상점수 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303000" y="8839200"/>
            <a:ext cx="965200" cy="965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9595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5300" y="444500"/>
            <a:ext cx="5054600" cy="185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0409" b="false" i="false" u="none" strike="noStrike">
                <a:solidFill>
                  <a:srgbClr val="231815"/>
                </a:solidFill>
                <a:latin typeface="Pretendard Black"/>
                <a:ea typeface="Pretendard Black"/>
                <a:cs typeface="Pretendard Black"/>
              </a:rPr>
              <a:t>Week 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600700" y="812800"/>
            <a:ext cx="4038600" cy="1117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6258" b="false" i="false" u="none" strike="noStrike">
                <a:solidFill>
                  <a:srgbClr val="EEEEEE"/>
                </a:solidFill>
                <a:latin typeface="210 Ginsaengmeori Regular"/>
                <a:ea typeface="210 Ginsaengmeori Regular"/>
                <a:cs typeface="210 Ginsaengmeori Regular"/>
              </a:rPr>
              <a:t>파이썬 소개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70000" y="2298700"/>
            <a:ext cx="12052300" cy="995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224000" y="4635500"/>
            <a:ext cx="9398000" cy="3429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224000" y="8521700"/>
            <a:ext cx="9385300" cy="3340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824700" y="2298700"/>
            <a:ext cx="2260600" cy="2260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443200" y="2273300"/>
            <a:ext cx="2273300" cy="2273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9595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5300" y="444500"/>
            <a:ext cx="5245100" cy="185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0409" b="false" i="false" u="none" strike="noStrike">
                <a:solidFill>
                  <a:srgbClr val="231815"/>
                </a:solidFill>
                <a:latin typeface="Pretendard Black"/>
                <a:ea typeface="Pretendard Black"/>
                <a:cs typeface="Pretendard Black"/>
              </a:rPr>
              <a:t>Week 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600700" y="812800"/>
            <a:ext cx="4038600" cy="1117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6258" b="false" i="false" u="none" strike="noStrike">
                <a:solidFill>
                  <a:srgbClr val="EEEEEE"/>
                </a:solidFill>
                <a:latin typeface="210 Ginsaengmeori Regular"/>
                <a:ea typeface="210 Ginsaengmeori Regular"/>
                <a:cs typeface="210 Ginsaengmeori Regular"/>
              </a:rPr>
              <a:t>변수와 수식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81300" y="2298700"/>
            <a:ext cx="188214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9595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5300" y="444500"/>
            <a:ext cx="5270500" cy="185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0409" b="false" i="false" u="none" strike="noStrike">
                <a:solidFill>
                  <a:srgbClr val="231815"/>
                </a:solidFill>
                <a:latin typeface="Pretendard Black"/>
                <a:ea typeface="Pretendard Black"/>
                <a:cs typeface="Pretendard Black"/>
              </a:rPr>
              <a:t>Week 3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600700" y="812800"/>
            <a:ext cx="2387600" cy="1117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6258" b="false" i="false" u="none" strike="noStrike">
                <a:solidFill>
                  <a:srgbClr val="EEEEEE"/>
                </a:solidFill>
                <a:latin typeface="210 Ginsaengmeori Regular"/>
                <a:ea typeface="210 Ginsaengmeori Regular"/>
                <a:cs typeface="210 Ginsaengmeori Regular"/>
              </a:rPr>
              <a:t>조건문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81300" y="2298700"/>
            <a:ext cx="188214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9595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5300" y="444500"/>
            <a:ext cx="5308600" cy="185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0409" b="false" i="false" u="none" strike="noStrike">
                <a:solidFill>
                  <a:srgbClr val="231815"/>
                </a:solidFill>
                <a:latin typeface="Pretendard Black"/>
                <a:ea typeface="Pretendard Black"/>
                <a:cs typeface="Pretendard Black"/>
              </a:rPr>
              <a:t>Week 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600700" y="812800"/>
            <a:ext cx="2387600" cy="1117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6258" b="false" i="false" u="none" strike="noStrike">
                <a:solidFill>
                  <a:srgbClr val="EEEEEE"/>
                </a:solidFill>
                <a:latin typeface="210 Ginsaengmeori Regular"/>
                <a:ea typeface="210 Ginsaengmeori Regular"/>
                <a:cs typeface="210 Ginsaengmeori Regular"/>
              </a:rPr>
              <a:t>반복문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965700" y="2298700"/>
            <a:ext cx="14452600" cy="1102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9595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5300" y="444500"/>
            <a:ext cx="5270500" cy="185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0409" b="false" i="false" u="none" strike="noStrike">
                <a:solidFill>
                  <a:srgbClr val="231815"/>
                </a:solidFill>
                <a:latin typeface="Pretendard Black"/>
                <a:ea typeface="Pretendard Black"/>
                <a:cs typeface="Pretendard Black"/>
              </a:rPr>
              <a:t>Week 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600700" y="812800"/>
            <a:ext cx="1663700" cy="1117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6258" b="false" i="false" u="none" strike="noStrike">
                <a:solidFill>
                  <a:srgbClr val="EEEEEE"/>
                </a:solidFill>
                <a:latin typeface="210 Ginsaengmeori Regular"/>
                <a:ea typeface="210 Ginsaengmeori Regular"/>
                <a:cs typeface="210 Ginsaengmeori Regular"/>
              </a:rPr>
              <a:t>함수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254500" y="2298700"/>
            <a:ext cx="15875000" cy="10210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9595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5300" y="444500"/>
            <a:ext cx="5283200" cy="185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0409" b="false" i="false" u="none" strike="noStrike">
                <a:solidFill>
                  <a:srgbClr val="231815"/>
                </a:solidFill>
                <a:latin typeface="Pretendard Black"/>
                <a:ea typeface="Pretendard Black"/>
                <a:cs typeface="Pretendard Black"/>
              </a:rPr>
              <a:t>Week 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600700" y="812800"/>
            <a:ext cx="3543300" cy="1117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6258" b="false" i="false" u="none" strike="noStrike">
                <a:solidFill>
                  <a:srgbClr val="EEEEEE"/>
                </a:solidFill>
                <a:latin typeface="210 Ginsaengmeori Regular"/>
                <a:ea typeface="210 Ginsaengmeori Regular"/>
                <a:cs typeface="210 Ginsaengmeori Regular"/>
              </a:rPr>
              <a:t>자료구조 I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492500" y="2298700"/>
            <a:ext cx="17399000" cy="10782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9595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5300" y="444500"/>
            <a:ext cx="5194300" cy="185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0409" b="false" i="false" u="none" strike="noStrike">
                <a:solidFill>
                  <a:srgbClr val="231815"/>
                </a:solidFill>
                <a:latin typeface="Arial"/>
                <a:ea typeface="Arial"/>
                <a:cs typeface="Arial"/>
              </a:rPr>
              <a:t>Week 7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600700" y="812800"/>
            <a:ext cx="3771900" cy="1117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6258" b="false" i="false" u="none" strike="noStrike">
                <a:solidFill>
                  <a:srgbClr val="EEEEEE"/>
                </a:solidFill>
                <a:latin typeface="210 Ginsaengmeori Regular"/>
                <a:ea typeface="210 Ginsaengmeori Regular"/>
                <a:cs typeface="210 Ginsaengmeori Regular"/>
              </a:rPr>
              <a:t>자료구조 II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492500" y="2298700"/>
            <a:ext cx="17399000" cy="10782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9595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87500" y="838200"/>
            <a:ext cx="9715500" cy="1193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6682" b="false" i="false" u="none" strike="noStrike">
                <a:solidFill>
                  <a:srgbClr val="EEEEEE"/>
                </a:solidFill>
                <a:latin typeface="210 Ginsaengmeori Regular"/>
                <a:ea typeface="210 Ginsaengmeori Regular"/>
                <a:cs typeface="210 Ginsaengmeori Regular"/>
              </a:rPr>
              <a:t>자동차 관리 클래스 코드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41400" y="927100"/>
            <a:ext cx="1397000" cy="1003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2900" y="2882900"/>
            <a:ext cx="13665200" cy="9563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605000" y="2882900"/>
            <a:ext cx="9118600" cy="9563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9595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87500" y="838200"/>
            <a:ext cx="9715500" cy="1193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6682" b="false" i="false" u="none" strike="noStrike">
                <a:solidFill>
                  <a:srgbClr val="EEEEEE"/>
                </a:solidFill>
                <a:latin typeface="210 Ginsaengmeori Regular"/>
                <a:ea typeface="210 Ginsaengmeori Regular"/>
                <a:cs typeface="210 Ginsaengmeori Regular"/>
              </a:rPr>
              <a:t>자동차 관리 클래스 실행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41400" y="927100"/>
            <a:ext cx="1397000" cy="1003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966700" y="7950200"/>
            <a:ext cx="10528300" cy="1460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00200" y="3060700"/>
            <a:ext cx="10299700" cy="2120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00200" y="8864600"/>
            <a:ext cx="10299700" cy="2247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966700" y="4114800"/>
            <a:ext cx="10261600" cy="2387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00200" y="5778500"/>
            <a:ext cx="10299700" cy="2476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9595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60700" y="800100"/>
            <a:ext cx="2857500" cy="1333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482" b="false" i="false" u="none" strike="noStrike">
                <a:solidFill>
                  <a:srgbClr val="EEEEEE"/>
                </a:solidFill>
                <a:latin typeface="210 Ginsaengmeori Regular"/>
                <a:ea typeface="210 Ginsaengmeori Regular"/>
                <a:cs typeface="210 Ginsaengmeori Regular"/>
              </a:rPr>
              <a:t>느낀점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30300" y="723900"/>
            <a:ext cx="1397000" cy="1397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17600" y="3124200"/>
            <a:ext cx="22161500" cy="6477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just" lvl="0">
              <a:lnSpc>
                <a:spcPct val="141100"/>
              </a:lnSpc>
            </a:pPr>
            <a:r>
              <a:rPr lang="en-US" sz="4565" b="false" i="false" u="none" strike="noStrike">
                <a:solidFill>
                  <a:srgbClr val="EEEEEE"/>
                </a:solidFill>
                <a:latin typeface="210 Ginsaengmeori Regular"/>
                <a:ea typeface="210 Ginsaengmeori Regular"/>
                <a:cs typeface="210 Ginsaengmeori Regular"/>
              </a:rPr>
              <a:t>이번 파이썬 수업에서 변수, 조건문, 반복문, 함수뿐만 아니라 객체와 클래스라는 새로운 개념을 새롭게 알게 되었다. Github 와 VSCode 사용법을 알게되어 프로그래밍을 간편하고 편리하게 할 수 있는 법을 알게 되어 좋았고 변수나 반복문 같은 개념들을 '자동차 관리 클래스'라는 프로젝트로 프로그래밍을 해보면서 파이썬 문법들이 실제 프로그램 속에서 어떻게 돌아가는지 그 흐름을 이해하는데 도움이 되었다. 이런 과정을 통해 내가 정한 프로젝트 프로그램이 의도한 대로 잘 작동하는 모습을 보며 큰 성취감을 느꼈다.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595959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60700" y="800100"/>
            <a:ext cx="5943600" cy="1333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482" b="false" i="false" u="none" strike="noStrike">
                <a:solidFill>
                  <a:srgbClr val="EEEEEE"/>
                </a:solidFill>
                <a:latin typeface="210 Ginsaengmeori Regular"/>
                <a:ea typeface="210 Ginsaengmeori Regular"/>
                <a:cs typeface="210 Ginsaengmeori Regular"/>
              </a:rPr>
              <a:t>나의 예상 점수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30300" y="723900"/>
            <a:ext cx="1397000" cy="1397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8356600" y="5384800"/>
            <a:ext cx="8013700" cy="158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8949" b="false" i="false" u="none" strike="noStrike">
                <a:solidFill>
                  <a:srgbClr val="EEEEEE"/>
                </a:solidFill>
                <a:latin typeface="210 Ginsaengmeori Regular"/>
                <a:ea typeface="210 Ginsaengmeori Regular"/>
                <a:cs typeface="210 Ginsaengmeori Regular"/>
              </a:rPr>
              <a:t>GitHub : 14/15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72300" y="6858000"/>
            <a:ext cx="10782300" cy="158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8949" b="false" i="false" u="none" strike="noStrike">
                <a:solidFill>
                  <a:srgbClr val="EEEEEE"/>
                </a:solidFill>
                <a:latin typeface="210 Ginsaengmeori Regular"/>
                <a:ea typeface="210 Ginsaengmeori Regular"/>
                <a:cs typeface="210 Ginsaengmeori Regular"/>
              </a:rPr>
              <a:t>프로젝트 발표 : 15/15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5959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29100" y="4914900"/>
            <a:ext cx="15062200" cy="3898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1918" b="false" i="false" u="none" strike="noStrike">
                <a:solidFill>
                  <a:srgbClr val="EEEEEE"/>
                </a:solidFill>
                <a:latin typeface="210 Ginsaengmeori Regular"/>
                <a:ea typeface="210 Ginsaengmeori Regular"/>
                <a:cs typeface="210 Ginsaengmeori Regular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